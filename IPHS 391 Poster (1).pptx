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32918400" cx="438912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Domine"/>
      <p:regular r:id="rId12"/>
      <p:bold r:id="rId13"/>
    </p:embeddedFont>
    <p:embeddedFont>
      <p:font typeface="Montserrat ExtraBold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  <p15:guide id="3" orient="horz" pos="10368">
          <p15:clr>
            <a:srgbClr val="A4A3A4"/>
          </p15:clr>
        </p15:guide>
        <p15:guide id="4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25BQBS7xF9gtHe9W28JLnJGtA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346E8-07FE-4417-A478-DF535EB1D094}">
  <a:tblStyle styleId="{0B5346E8-07FE-4417-A478-DF535EB1D0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Domine-bold.fntdata"/><Relationship Id="rId12" Type="http://schemas.openxmlformats.org/officeDocument/2006/relationships/font" Target="fonts/Domi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Montserrat-bold.fntdata"/><Relationship Id="rId15" Type="http://schemas.openxmlformats.org/officeDocument/2006/relationships/font" Target="fonts/MontserratExtraBold-boldItalic.fntdata"/><Relationship Id="rId14" Type="http://schemas.openxmlformats.org/officeDocument/2006/relationships/font" Target="fonts/MontserratExtraBold-bold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-11506200" y="16459200"/>
            <a:ext cx="14274800" cy="43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1122600" y="16459200"/>
            <a:ext cx="14274800" cy="43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59600" y="33426400"/>
            <a:ext cx="29972000" cy="15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6959600" y="33997900"/>
            <a:ext cx="21945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80"/>
              <a:buFont typeface="Arial"/>
              <a:buNone/>
            </a:pPr>
            <a:r>
              <a:rPr b="0" i="0" lang="en-US" sz="488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assessingslate  Size: 48x36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0" y="0"/>
            <a:ext cx="43891200" cy="5842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64000" lIns="128000" spcFirstLastPara="1" rIns="12800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98"/>
              <a:buFont typeface="Arial"/>
              <a:buNone/>
            </a:pPr>
            <a:r>
              <a:t/>
            </a:r>
            <a:endParaRPr b="0" i="0" sz="869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371600" y="690446"/>
            <a:ext cx="41148000" cy="27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Montserrat ExtraBold"/>
              <a:buNone/>
            </a:pPr>
            <a:r>
              <a:rPr b="1" lang="en-US" sz="8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 Agentic Project-Management Tool for Cross-Functional Teams:</a:t>
            </a:r>
            <a:br>
              <a:rPr b="1" i="0" lang="en-US" sz="75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i="1" lang="en-US" sz="7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Streamlining workflow through bottleneck analysis and AI-powered optimization</a:t>
            </a:r>
            <a:endParaRPr b="0" i="1" sz="7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1371600" y="3203750"/>
            <a:ext cx="4114800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</a:pPr>
            <a:r>
              <a:rPr lang="en-US" sz="63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Tiffanie 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</a:pPr>
            <a:r>
              <a:rPr b="0" i="0" lang="en-US" sz="5200" u="none" cap="none" strike="noStrike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IPHS 391 Frontiers of AI (Fall  2025) Kenyon College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3279600" y="25876512"/>
            <a:ext cx="10058400" cy="6055800"/>
          </a:xfrm>
          <a:prstGeom prst="roundRect">
            <a:avLst>
              <a:gd fmla="val 3948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33772550" y="26909436"/>
            <a:ext cx="91440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Domine"/>
                <a:ea typeface="Domine"/>
                <a:cs typeface="Domine"/>
                <a:sym typeface="Domine"/>
              </a:rPr>
              <a:t>[1] https://github.com/tiffani3ng/agentic-project-management/blob/main/</a:t>
            </a:r>
            <a:endParaRPr sz="20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Domine"/>
                <a:ea typeface="Domine"/>
                <a:cs typeface="Domine"/>
                <a:sym typeface="Domine"/>
              </a:rPr>
              <a:t>reports/human_readable_summary.md</a:t>
            </a:r>
            <a:endParaRPr sz="20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latin typeface="Domine"/>
                <a:ea typeface="Domine"/>
                <a:cs typeface="Domine"/>
                <a:sym typeface="Domine"/>
              </a:rPr>
              <a:t>[2] Abad, Z. S. H., Karras, O., Schneider, K., Barker, K., and Bauer, M. 2018. Task interruption in software development projects: What makes some interruptions more disruptive than others? In Proc. 22nd Int. Conf. Evaluation and Assessment in Software Engineering (EASE ’18), 122–132.</a:t>
            </a:r>
            <a:endParaRPr sz="20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latin typeface="Domine"/>
                <a:ea typeface="Domine"/>
                <a:cs typeface="Domine"/>
                <a:sym typeface="Domine"/>
              </a:rPr>
              <a:t>[3] Karimi, H., Sarvari, H., Edwards, D. J., Chan, D. W. M., and Olawumi, T. O. 2024. Deploying bottleneck management strategies for ameliorating critical delays in building construction projects: A case for developing country of Iran. Systems 12, 6, Article 195. DOI:https://doi.org/10.3390/systems12060195</a:t>
            </a:r>
            <a:endParaRPr sz="20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latin typeface="Domine"/>
                <a:ea typeface="Domine"/>
                <a:cs typeface="Domine"/>
                <a:sym typeface="Domine"/>
              </a:rPr>
              <a:t>[4] Bull, D. 2025. Operational bottlenecks and workforce efficiency: A quantitative evaluation using the theory of constraints in healthcare. Zenodo 13, 60–78. DOI:10.5281/zenodo.15585196.</a:t>
            </a:r>
            <a:endParaRPr sz="20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3772557" y="26224841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3216800" y="16309062"/>
            <a:ext cx="10058400" cy="6647700"/>
          </a:xfrm>
          <a:prstGeom prst="roundRect">
            <a:avLst>
              <a:gd fmla="val 147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33674007" y="17375723"/>
            <a:ext cx="9144000" cy="5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This work illustrates the utility in the data that teams already have. Even as an MVP, our simple agentic infrastructure leverages these standard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project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artifacts to uncover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hidden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delays and identify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opportunities for process optimization.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Several extensions would move our system closer to real-world deployment: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mine"/>
              <a:buChar char="-"/>
            </a:pP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Dynamic project/task updating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continuous re-evaluation of workflow as events occur.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mine"/>
              <a:buChar char="-"/>
            </a:pP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Calendar integration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to reflect real availability.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mine"/>
              <a:buChar char="-"/>
            </a:pP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User interfaces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including web dashboards and Slack/Teams bot for intuitive day-to-day use.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mine"/>
              <a:buChar char="-"/>
            </a:pP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Smarter task assignment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from learning assignment weights through outcomes instead of heuristics.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33674007" y="16669711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 and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3279550" y="23361987"/>
            <a:ext cx="10058400" cy="2264700"/>
          </a:xfrm>
          <a:prstGeom prst="roundRect">
            <a:avLst>
              <a:gd fmla="val 1592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33727057" y="24227996"/>
            <a:ext cx="914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Model was tested on only synthetic data.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AI was used as a part of the app, as a tool for data generation, and for strictly drafting code and text.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33727057" y="23560084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</a:t>
            </a:r>
            <a:r>
              <a:rPr b="1" i="0" lang="en-US" sz="3600" u="none" cap="none" strike="noStrike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thics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2119" y="6662386"/>
            <a:ext cx="10058400" cy="10329300"/>
          </a:xfrm>
          <a:prstGeom prst="roundRect">
            <a:avLst>
              <a:gd fmla="val 1711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1169319" y="7782534"/>
            <a:ext cx="9144000" cy="8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Project management apps center around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tracking tasks but in reality, setbacks come from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system-level dynamics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(handoffs and review gates, or constrained specialists with overloaded schedules), which quietly compound until nothing ships on time.</a:t>
            </a:r>
            <a:endParaRPr i="1" sz="24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This work presents an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agentic project-management system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that turns routine operational data (tasks, assignments, handoffs, etc) into manager-ready outputs: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Domine"/>
              <a:buAutoNum type="arabicPeriod"/>
            </a:pP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skill- and capacity-aware task assignments,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Domine"/>
              <a:buAutoNum type="arabicPeriod"/>
            </a:pP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automated bottleneck detection from event logs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, and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Domine"/>
              <a:buAutoNum type="arabicPeriod"/>
            </a:pP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human-in-the-loop AI-assist recommendations.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We evaluate our MVP using a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synthetic dataset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built with ChatGPT, mimicking cross-functional collaboration in a mid-sized e-commerce company. The data illustrates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realistic departments, projects, tasks, and event logs in which the algorithm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i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ntentionally encodes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 six delay patterns and handoff structures for benchmarking.</a:t>
            </a:r>
            <a:endParaRPr b="1" sz="24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As an MVP, the current interface is minimal (CLI and static report outputs). Future work will add calendar integration, dynamic project/task updating, continuous re-evaluation of workflow efficiency, and a web interface + Slack/Teams chatbot for intuitive day-to-day use by real teams.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169319" y="7114622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Abstract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12125" y="17831737"/>
            <a:ext cx="10058400" cy="14147400"/>
          </a:xfrm>
          <a:prstGeom prst="roundRect">
            <a:avLst>
              <a:gd fmla="val 2004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169319" y="18984415"/>
            <a:ext cx="9144000" cy="12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700">
                <a:latin typeface="Domine"/>
                <a:ea typeface="Domine"/>
                <a:cs typeface="Domine"/>
                <a:sym typeface="Domine"/>
              </a:rPr>
              <a:t>THE PROBLEM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—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The core challenges in collaborative work emerge from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coordination and transitions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as work moves between people,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and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are not captured by traditional tools that solely measure task execution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. In cross-functional settings: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Domine"/>
              <a:buChar char="-"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ownership is often unclear across teams,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omine"/>
              <a:buChar char="-"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specialists are constrained and overloaded,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omine"/>
              <a:buChar char="-"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tasks bounce between reviewers, and 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omine"/>
              <a:buChar char="-"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late-stage review/compliance gates further delay delivery.</a:t>
            </a:r>
            <a:endParaRPr b="1" sz="24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Because most project management systems track what needs to be done instead of where work is stuck, these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frictions </a:t>
            </a: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are often invisible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until deadlines slip.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700">
                <a:latin typeface="Domine"/>
                <a:ea typeface="Domine"/>
                <a:cs typeface="Domine"/>
                <a:sym typeface="Domine"/>
              </a:rPr>
              <a:t>WHAT’S THE FIX?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—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Our system analyses employee data and availability, project and task requirements, and event logs of how tasks move between people. Using these signals, it produces actionable reports that provide: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Domine"/>
              <a:buAutoNum type="arabicParenR"/>
            </a:pP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DIAGNOSES: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employee workload overviews, average wait-time metrics, process analyses (supported by chord diagrams) that highlight where work is stalling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omine"/>
              <a:buAutoNum type="arabicParenR"/>
            </a:pP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SOLUTIONS: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clear task-assignment plans that reduce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overload and misallocation, flagging low-risk AI-assist opportunities to accelerate tedious work, and interpretable bottleneck narratives with recommended fixes.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WHY SYNTHETIC DATA? </a:t>
            </a: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—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Real company workflow logs are inaccessible due to privacy/policy constraints, but using a simulated organization also has its advantages. The synthetic dataset allows us the </a:t>
            </a:r>
            <a:r>
              <a:rPr b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controlled injection of known bottlenecks to benchmark our detection logic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and evaluate whether our system can suggest a plausible story about why work slows down and how to fix it.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169319" y="18316504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1"/>
          <p:cNvGrpSpPr/>
          <p:nvPr/>
        </p:nvGrpSpPr>
        <p:grpSpPr>
          <a:xfrm>
            <a:off x="11408050" y="23801759"/>
            <a:ext cx="10058400" cy="8214805"/>
            <a:chOff x="22311375" y="6268690"/>
            <a:chExt cx="10058400" cy="8447100"/>
          </a:xfrm>
        </p:grpSpPr>
        <p:sp>
          <p:nvSpPr>
            <p:cNvPr id="39" name="Google Shape;39;p1"/>
            <p:cNvSpPr/>
            <p:nvPr/>
          </p:nvSpPr>
          <p:spPr>
            <a:xfrm>
              <a:off x="22311375" y="6268690"/>
              <a:ext cx="10058400" cy="8447100"/>
            </a:xfrm>
            <a:prstGeom prst="roundRect">
              <a:avLst>
                <a:gd fmla="val 1822" name="adj"/>
              </a:avLst>
            </a:prstGeom>
            <a:solidFill>
              <a:srgbClr val="E3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t/>
              </a:r>
              <a:endPara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"/>
            <p:cNvSpPr txBox="1"/>
            <p:nvPr/>
          </p:nvSpPr>
          <p:spPr>
            <a:xfrm>
              <a:off x="22624366" y="7186417"/>
              <a:ext cx="9538200" cy="74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7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SYSTEM DESIGN </a:t>
              </a:r>
              <a:r>
                <a:rPr b="1"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— </a:t>
              </a: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The application is implemented as an </a:t>
              </a:r>
              <a:r>
                <a:rPr b="1"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agentic pipeline</a:t>
              </a: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, where each agent operates over shared structured data and is responsible for one stage of project planning, diagnosis, or recommendation: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Load structured data tables 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detailing employees, availability, projects, tasks, and events,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Resource Allocation Agent 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assigns unstarted tasks by balancing skill compatibility and capacity constraints.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AI Opportunity Scout 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flags low-risk tasks where AI assistance can safely accelerate work.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Bottleneck Detector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 analyzes event logs to compute workflow delays and identify coordination hotspots.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Workflow Recommender 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translates these patterns to recommendations of process interventions.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Domine"/>
                <a:buAutoNum type="arabicPeriod"/>
              </a:pPr>
              <a:r>
                <a:rPr b="1" lang="en-US" sz="2400">
                  <a:latin typeface="Domine"/>
                  <a:ea typeface="Domine"/>
                  <a:cs typeface="Domine"/>
                  <a:sym typeface="Domine"/>
                </a:rPr>
                <a:t>OUTPUT: </a:t>
              </a: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A consolidated, manager-facing report summarizing task assignments, workload risk, detected bottlenecks, and AI-automation opportunities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22572903" y="6499134"/>
              <a:ext cx="9144000" cy="6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3F3F3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Methodology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1"/>
          <p:cNvGrpSpPr/>
          <p:nvPr/>
        </p:nvGrpSpPr>
        <p:grpSpPr>
          <a:xfrm>
            <a:off x="33216800" y="6801091"/>
            <a:ext cx="10058400" cy="9228000"/>
            <a:chOff x="22311350" y="6300654"/>
            <a:chExt cx="10058400" cy="9228000"/>
          </a:xfrm>
        </p:grpSpPr>
        <p:sp>
          <p:nvSpPr>
            <p:cNvPr id="43" name="Google Shape;43;p1"/>
            <p:cNvSpPr/>
            <p:nvPr/>
          </p:nvSpPr>
          <p:spPr>
            <a:xfrm>
              <a:off x="22311350" y="6300654"/>
              <a:ext cx="10058400" cy="9228000"/>
            </a:xfrm>
            <a:prstGeom prst="roundRect">
              <a:avLst>
                <a:gd fmla="val 1937" name="adj"/>
              </a:avLst>
            </a:prstGeom>
            <a:solidFill>
              <a:srgbClr val="E3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t/>
              </a:r>
              <a:endPara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22768561" y="7388297"/>
              <a:ext cx="9144000" cy="78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7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WHAT WE EVALUATE </a:t>
              </a:r>
              <a:r>
                <a:rPr b="1"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— </a:t>
              </a: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Performance is scored by how well the system can produce </a:t>
              </a:r>
              <a:r>
                <a:rPr b="1"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useful managerial insight</a:t>
              </a: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 from limited inputs: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omine"/>
                <a:buChar char="-"/>
              </a:pP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Can it uncover bottlenecks from event logs alone?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omine"/>
                <a:buChar char="-"/>
              </a:pP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Do task assignments respect employee availability while reducing skill mismatch?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  <a:p>
              <a:pPr indent="-3810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omine"/>
                <a:buChar char="-"/>
              </a:pP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Are AI recommendations constrained to low-risk and/or human-reviewable tasks?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7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WHAT WE FOUND </a:t>
              </a:r>
              <a:r>
                <a:rPr b="1"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— </a:t>
              </a: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The bottleneck detector successfully identifies and interprets repeated handoff loops, queue delays, and late-stage approval gates, but struggled with the more subtle task misassignment delay. 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Workload summaries highlight overloaded individuals and teams, clarifying where delays originate.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Assignment outputs consistently prioritize better skill fit and available capacity, avoiding allocating work to already saturated roles.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latin typeface="Domine"/>
                  <a:ea typeface="Domine"/>
                  <a:cs typeface="Domine"/>
                  <a:sym typeface="Domine"/>
                </a:rPr>
                <a:t>All AI recommendations were limited to low-risk assistance, focusing on tasks with explicit human review.</a:t>
              </a:r>
              <a:endParaRPr sz="2400"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22768561" y="6720385"/>
              <a:ext cx="91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3F3F3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Results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"/>
          <p:cNvSpPr/>
          <p:nvPr/>
        </p:nvSpPr>
        <p:spPr>
          <a:xfrm>
            <a:off x="11511750" y="6662387"/>
            <a:ext cx="10058400" cy="10670400"/>
          </a:xfrm>
          <a:prstGeom prst="roundRect">
            <a:avLst>
              <a:gd fmla="val 1822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1978628" y="7082122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3F3F3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1"/>
          <p:cNvGrpSpPr/>
          <p:nvPr/>
        </p:nvGrpSpPr>
        <p:grpSpPr>
          <a:xfrm>
            <a:off x="11903788" y="10698843"/>
            <a:ext cx="9313069" cy="4058021"/>
            <a:chOff x="11854638" y="19421955"/>
            <a:chExt cx="9313069" cy="4749000"/>
          </a:xfrm>
        </p:grpSpPr>
        <p:sp>
          <p:nvSpPr>
            <p:cNvPr id="49" name="Google Shape;49;p1"/>
            <p:cNvSpPr/>
            <p:nvPr/>
          </p:nvSpPr>
          <p:spPr>
            <a:xfrm>
              <a:off x="11854638" y="19421955"/>
              <a:ext cx="9267900" cy="4749000"/>
            </a:xfrm>
            <a:prstGeom prst="roundRect">
              <a:avLst>
                <a:gd fmla="val 1822" name="adj"/>
              </a:avLst>
            </a:prstGeom>
            <a:solidFill>
              <a:srgbClr val="F7F7F4"/>
            </a:solidFill>
            <a:ln cap="flat" cmpd="sng" w="28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t/>
              </a:r>
              <a:endPara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 txBox="1"/>
            <p:nvPr/>
          </p:nvSpPr>
          <p:spPr>
            <a:xfrm>
              <a:off x="12083706" y="19545444"/>
              <a:ext cx="9084000" cy="446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400">
                  <a:latin typeface="Courier New"/>
                  <a:ea typeface="Courier New"/>
                  <a:cs typeface="Courier New"/>
                  <a:sym typeface="Courier New"/>
                </a:rPr>
                <a:t>DATA TABLE OVERVIEW</a:t>
              </a:r>
              <a:endParaRPr b="1" sz="2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200">
                  <a:latin typeface="Courier New"/>
                  <a:ea typeface="Courier New"/>
                  <a:cs typeface="Courier New"/>
                  <a:sym typeface="Courier New"/>
                </a:rPr>
                <a:t>employees</a:t>
              </a:r>
              <a:r>
                <a:rPr lang="en-US" sz="2200">
                  <a:latin typeface="Courier New"/>
                  <a:ea typeface="Courier New"/>
                  <a:cs typeface="Courier New"/>
                  <a:sym typeface="Courier New"/>
                </a:rPr>
                <a:t> (id, name, department, role, skills[], max_hours, timezone)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200">
                  <a:latin typeface="Courier New"/>
                  <a:ea typeface="Courier New"/>
                  <a:cs typeface="Courier New"/>
                  <a:sym typeface="Courier New"/>
                </a:rPr>
                <a:t>availability</a:t>
              </a:r>
              <a:r>
                <a:rPr lang="en-US" sz="2200">
                  <a:latin typeface="Courier New"/>
                  <a:ea typeface="Courier New"/>
                  <a:cs typeface="Courier New"/>
                  <a:sym typeface="Courier New"/>
                </a:rPr>
                <a:t> (employee_id, date, hours_free)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200">
                  <a:latin typeface="Courier New"/>
                  <a:ea typeface="Courier New"/>
                  <a:cs typeface="Courier New"/>
                  <a:sym typeface="Courier New"/>
                </a:rPr>
                <a:t>projects</a:t>
              </a:r>
              <a:r>
                <a:rPr lang="en-US" sz="2200">
                  <a:latin typeface="Courier New"/>
                  <a:ea typeface="Courier New"/>
                  <a:cs typeface="Courier New"/>
                  <a:sym typeface="Courier New"/>
                </a:rPr>
                <a:t> (id, name, description, deadline, priority)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200">
                  <a:latin typeface="Courier New"/>
                  <a:ea typeface="Courier New"/>
                  <a:cs typeface="Courier New"/>
                  <a:sym typeface="Courier New"/>
                </a:rPr>
                <a:t>tasks</a:t>
              </a:r>
              <a:r>
                <a:rPr lang="en-US" sz="2200">
                  <a:latin typeface="Courier New"/>
                  <a:ea typeface="Courier New"/>
                  <a:cs typeface="Courier New"/>
                  <a:sym typeface="Courier New"/>
                </a:rPr>
                <a:t> (id, project_id, name, skill_needed, est_hours, assignee, start, due, status)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-US" sz="2200">
                  <a:latin typeface="Courier New"/>
                  <a:ea typeface="Courier New"/>
                  <a:cs typeface="Courier New"/>
                  <a:sym typeface="Courier New"/>
                </a:rPr>
                <a:t>events</a:t>
              </a:r>
              <a:r>
                <a:rPr lang="en-US" sz="2200">
                  <a:latin typeface="Courier New"/>
                  <a:ea typeface="Courier New"/>
                  <a:cs typeface="Courier New"/>
                  <a:sym typeface="Courier New"/>
                </a:rPr>
                <a:t> (task_id, type [start/end/handoff/queue], timestamp, from_assignee, to_assignee)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1" name="Google Shape;51;p1"/>
          <p:cNvSpPr txBox="1"/>
          <p:nvPr/>
        </p:nvSpPr>
        <p:spPr>
          <a:xfrm>
            <a:off x="11949553" y="7728608"/>
            <a:ext cx="91440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700">
                <a:latin typeface="Domine"/>
                <a:ea typeface="Domine"/>
                <a:cs typeface="Domine"/>
                <a:sym typeface="Domine"/>
              </a:rPr>
              <a:t>DATA GENERATION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—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We used a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hybrid generation strategy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, where Python code decided IDs, timestamps, availability patterns, and event simulation, and an LLM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was used to generate richer projects with associated tasks.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Event log generation emphasizes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realistic work patterns,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including clustered bursts of activity, weekends and idle gaps, and multi-step handoffs across roles.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</p:txBody>
      </p:sp>
      <p:graphicFrame>
        <p:nvGraphicFramePr>
          <p:cNvPr id="52" name="Google Shape;52;p1"/>
          <p:cNvGraphicFramePr/>
          <p:nvPr/>
        </p:nvGraphicFramePr>
        <p:xfrm>
          <a:off x="11379175" y="1755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{0B5346E8-07FE-4417-A478-DF535EB1D094}</a:tableStyleId>
              </a:tblPr>
              <a:tblGrid>
                <a:gridCol w="7896650"/>
                <a:gridCol w="2446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EMBEDDED BOTTLENECKS</a:t>
                      </a:r>
                      <a:endParaRPr b="1" sz="24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9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IDENTIFIED?</a:t>
                      </a:r>
                      <a:endParaRPr b="1" sz="24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99E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Analytics backlog 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caused by over-reliance on a small specialist team, leading to 24–96h queue delays.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Creative approval loops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 repeated back-and-forth handoffs and long waiting periods.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Engineering interruptions 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with mid-task handoffs, late completions, and blocked tasks without terminal events.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Vendor-dependent delays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seen in</a:t>
                      </a: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prolonged 72–168h silence periods in operations and supply chain work.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Late finance/legal reviews 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leading to 36–96h approval delays and clarification loops near deadlines.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Initial task misassignment</a:t>
                      </a: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20% of the time, causing skill mismatch and corrective handoff after 6–24h.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53" name="Google Shape;53;p1"/>
          <p:cNvSpPr txBox="1"/>
          <p:nvPr/>
        </p:nvSpPr>
        <p:spPr>
          <a:xfrm>
            <a:off x="11968950" y="15408947"/>
            <a:ext cx="9144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700">
                <a:latin typeface="Domine"/>
                <a:ea typeface="Domine"/>
                <a:cs typeface="Domine"/>
                <a:sym typeface="Domine"/>
              </a:rPr>
              <a:t>BOTTLENECKS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— 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Six common workflow bottlenecks with </a:t>
            </a:r>
            <a:r>
              <a:rPr b="1" lang="en-US" sz="2400">
                <a:latin typeface="Domine"/>
                <a:ea typeface="Domine"/>
                <a:cs typeface="Domine"/>
                <a:sym typeface="Domine"/>
              </a:rPr>
              <a:t>distinct, measurable signatures</a:t>
            </a:r>
            <a:r>
              <a:rPr lang="en-US" sz="2400">
                <a:latin typeface="Domine"/>
                <a:ea typeface="Domine"/>
                <a:cs typeface="Domine"/>
                <a:sym typeface="Domine"/>
              </a:rPr>
              <a:t> are explicitly encoded into the event logs to test how well they can be detected and explained by the system (see Figure 2).</a:t>
            </a:r>
            <a:endParaRPr sz="2400"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54" name="Google Shape;54;p1" title="bottleneck_map_i_like.png"/>
          <p:cNvPicPr preferRelativeResize="0"/>
          <p:nvPr/>
        </p:nvPicPr>
        <p:blipFill rotWithShape="1">
          <a:blip r:embed="rId3">
            <a:alphaModFix/>
          </a:blip>
          <a:srcRect b="8478" l="0" r="0" t="13517"/>
          <a:stretch/>
        </p:blipFill>
        <p:spPr>
          <a:xfrm>
            <a:off x="22364274" y="6623100"/>
            <a:ext cx="10058399" cy="8065432"/>
          </a:xfrm>
          <a:prstGeom prst="rect">
            <a:avLst/>
          </a:prstGeom>
          <a:solidFill>
            <a:srgbClr val="E3E3E3"/>
          </a:solidFill>
          <a:ln>
            <a:noFill/>
          </a:ln>
        </p:spPr>
      </p:pic>
      <p:pic>
        <p:nvPicPr>
          <p:cNvPr id="55" name="Google Shape;55;p1" title="Screenshot 2025-12-17 at 6.21.06 PM.png"/>
          <p:cNvPicPr preferRelativeResize="0"/>
          <p:nvPr/>
        </p:nvPicPr>
        <p:blipFill rotWithShape="1">
          <a:blip r:embed="rId4">
            <a:alphaModFix/>
          </a:blip>
          <a:srcRect b="60799" l="0" r="0" t="0"/>
          <a:stretch/>
        </p:blipFill>
        <p:spPr>
          <a:xfrm>
            <a:off x="22586700" y="16275504"/>
            <a:ext cx="9669375" cy="26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 title="Screenshot 2025-12-17 at 6.22.0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61184" y="23425679"/>
            <a:ext cx="9623656" cy="2137320"/>
          </a:xfrm>
          <a:prstGeom prst="rect">
            <a:avLst/>
          </a:prstGeom>
          <a:solidFill>
            <a:srgbClr val="E3E3E3"/>
          </a:solidFill>
          <a:ln>
            <a:noFill/>
          </a:ln>
        </p:spPr>
      </p:pic>
      <p:pic>
        <p:nvPicPr>
          <p:cNvPr id="57" name="Google Shape;57;p1" title="Screenshot 2025-12-17 at 6.22.2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38325" y="25918800"/>
            <a:ext cx="9669374" cy="2605931"/>
          </a:xfrm>
          <a:prstGeom prst="rect">
            <a:avLst/>
          </a:prstGeom>
          <a:solidFill>
            <a:srgbClr val="E3E3E3"/>
          </a:solidFill>
          <a:ln>
            <a:noFill/>
          </a:ln>
        </p:spPr>
      </p:pic>
      <p:pic>
        <p:nvPicPr>
          <p:cNvPr id="58" name="Google Shape;58;p1" title="Screenshot 2025-12-17 at 6.24.25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15600" y="28832818"/>
            <a:ext cx="9669373" cy="22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title="Screenshot 2025-12-17 at 6.21.06 PM.png"/>
          <p:cNvPicPr preferRelativeResize="0"/>
          <p:nvPr/>
        </p:nvPicPr>
        <p:blipFill rotWithShape="1">
          <a:blip r:embed="rId4">
            <a:alphaModFix/>
          </a:blip>
          <a:srcRect b="0" l="0" r="0" t="41162"/>
          <a:stretch/>
        </p:blipFill>
        <p:spPr>
          <a:xfrm>
            <a:off x="22586688" y="19066929"/>
            <a:ext cx="9669375" cy="39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22417225" y="16108204"/>
            <a:ext cx="9952500" cy="28527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22402792" y="19075204"/>
            <a:ext cx="9952500" cy="40581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22396750" y="23281475"/>
            <a:ext cx="9952500" cy="2423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22396775" y="25876512"/>
            <a:ext cx="9952500" cy="27468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22374050" y="28738760"/>
            <a:ext cx="9952500" cy="2423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22330874" y="31277612"/>
            <a:ext cx="995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latin typeface="Domine"/>
                <a:ea typeface="Domine"/>
                <a:cs typeface="Domine"/>
                <a:sym typeface="Domine"/>
              </a:rPr>
              <a:t>Figure 4: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 Collection of e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xcerpts from the consolidated report generated in a sample run. Full reports can be found in the GitHub cited.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1378775" y="22959112"/>
            <a:ext cx="1034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latin typeface="Domine"/>
                <a:ea typeface="Domine"/>
                <a:cs typeface="Domine"/>
                <a:sym typeface="Domine"/>
              </a:rPr>
              <a:t>Figure 2: 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Table displaying the six bottlenecks embedded in the synthetic test data, and the results of app bottleneck analysis.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1903800" y="14826062"/>
            <a:ext cx="931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latin typeface="Domine"/>
                <a:ea typeface="Domine"/>
                <a:cs typeface="Domine"/>
                <a:sym typeface="Domine"/>
              </a:rPr>
              <a:t>Figure 1: 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An overview of the structure of data in the synthetic dataset.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22417224" y="14985725"/>
            <a:ext cx="995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latin typeface="Domine"/>
                <a:ea typeface="Domine"/>
                <a:cs typeface="Domine"/>
                <a:sym typeface="Domine"/>
              </a:rPr>
              <a:t>Figure 3: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 Chord diagram mapping the workflow illustrated in the synthetic dataset. Full reports can be found in the GitHub cited.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Graphicsland/MakeSigns.com</dc:creator>
</cp:coreProperties>
</file>